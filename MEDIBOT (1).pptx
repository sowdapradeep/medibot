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21" r:id="rId4"/>
    <p:sldMasterId id="2147483941" r:id="rId5"/>
  </p:sldMasterIdLst>
  <p:notesMasterIdLst>
    <p:notesMasterId r:id="rId15"/>
  </p:notesMasterIdLst>
  <p:handoutMasterIdLst>
    <p:handoutMasterId r:id="rId16"/>
  </p:handoutMasterIdLst>
  <p:sldIdLst>
    <p:sldId id="2147479510" r:id="rId6"/>
    <p:sldId id="2147478866" r:id="rId7"/>
    <p:sldId id="2147478862" r:id="rId8"/>
    <p:sldId id="259" r:id="rId9"/>
    <p:sldId id="260" r:id="rId10"/>
    <p:sldId id="2147478861" r:id="rId11"/>
    <p:sldId id="2147478864" r:id="rId12"/>
    <p:sldId id="2147478840" r:id="rId13"/>
    <p:sldId id="214747951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A4A3A4"/>
          </p15:clr>
        </p15:guide>
        <p15:guide id="2" orient="horz" pos="3480" userDrawn="1">
          <p15:clr>
            <a:srgbClr val="A4A3A4"/>
          </p15:clr>
        </p15:guide>
        <p15:guide id="3" orient="horz" pos="1968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0FE45A-7076-C060-3926-02C230FFCD7B}" name="Gartner, David (Cognizant)" initials="GD(" userId="S::930056@cognizant.com::31109c44-657a-4c1f-917c-0cd2083250d2" providerId="AD"/>
  <p188:author id="{8A5BD095-9E65-7BE9-45FB-30FB8BB32066}" name="U V, Suma (Cognizant)" initials="UVS(" userId="S::130507@cognizant.com::4f7947b8-3b59-458a-ab0c-e8875a4c651f" providerId="AD"/>
  <p188:author id="{99F93FB6-C18C-5FBA-5487-DBE9A471B604}" name="Jennifer Kelly" initials="JK" userId="c+VufwqJC72uMbGB6Qy3ESl4lWVfVYW4DP6fjOUmpX4=" providerId="None"/>
  <p188:author id="{AFF83BBF-8DC2-56B1-7D97-F4B62A6558D1}" name="Holsinger, Sophie (Contractor)" initials="H(" userId="qSv0elhcSqVZ6Und2jvxKda9UaW6eolhxm7dQQjF6aw=" providerId="None"/>
  <p188:author id="{0DF45BD4-5C8A-2E2D-FEE5-54A7402B3C0A}" name="Michelle Loeb" initials="ML" userId="y5thoKV0uDjaThbJPgxbMhWQvDJapLNicr5yuEWdci8=" providerId="None"/>
  <p188:author id="{561DB6D9-3341-C508-291F-4E7B425C4BEE}" name="La Cascia, Lynne (Cognizant)" initials="L(" userId="XzsV+nJzGmSCzj+6LOZ0MUrq7QBF9d0P2TCBTjMm7P4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kki Feuerstein" initials="RF" lastIdx="118" clrIdx="0">
    <p:extLst>
      <p:ext uri="{19B8F6BF-5375-455C-9EA6-DF929625EA0E}">
        <p15:presenceInfo xmlns:p15="http://schemas.microsoft.com/office/powerpoint/2012/main" userId="9696b6c1086d6638" providerId="Windows Live"/>
      </p:ext>
    </p:extLst>
  </p:cmAuthor>
  <p:cmAuthor id="2" name="Alex DiMaio" initials="AD" lastIdx="327" clrIdx="1">
    <p:extLst>
      <p:ext uri="{19B8F6BF-5375-455C-9EA6-DF929625EA0E}">
        <p15:presenceInfo xmlns:p15="http://schemas.microsoft.com/office/powerpoint/2012/main" userId="S::adimaio@tenetpartner.onmicrosoft.com::b1481f74-343d-4e6b-b114-ca2ded61f9f6" providerId="AD"/>
      </p:ext>
    </p:extLst>
  </p:cmAuthor>
  <p:cmAuthor id="3" name="Microsoft Office User" initials="MOU" lastIdx="4" clrIdx="2"/>
  <p:cmAuthor id="4" name="Gartner, David (Cognizant)" initials="GD(" lastIdx="61" clrIdx="3">
    <p:extLst>
      <p:ext uri="{19B8F6BF-5375-455C-9EA6-DF929625EA0E}">
        <p15:presenceInfo xmlns:p15="http://schemas.microsoft.com/office/powerpoint/2012/main" userId="S::930056@cognizant.com::31109c44-657a-4c1f-917c-0cd2083250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DFE"/>
    <a:srgbClr val="000048"/>
    <a:srgbClr val="05819B"/>
    <a:srgbClr val="0ED1D3"/>
    <a:srgbClr val="26EFE9"/>
    <a:srgbClr val="23ECE7"/>
    <a:srgbClr val="1EE5E2"/>
    <a:srgbClr val="19DEDD"/>
    <a:srgbClr val="16DBDB"/>
    <a:srgbClr val="13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AF47B0-6D3A-47B7-B973-60B50A6D1901}" v="2" dt="2026-04-30T09:15:23.7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1584"/>
        <p:guide orient="horz" pos="3480"/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658FED-51F9-9B45-B597-1E80080F05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449CD-7629-F94E-AB7C-5B049A15EC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07195-0CC2-A547-89CA-57E183807FC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FED8-4762-F94C-A006-546565DF54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31462-D62C-8C42-B544-F3E0E7018A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F4819-B501-CC4D-93F0-10A4E74E0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35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00608-096F-0448-BF1C-AC23D45B3CD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A3903-E1C0-B641-BF09-7903E2AE2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5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0CC5-E31C-45D5-FFE7-A6C4A15B9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0CC6C-8F35-FCB5-D02A-08D1A59C2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4D316-D2D6-CA0C-044F-E7A2F920A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3140D-0BFD-6DB6-5FF7-A281BEB9D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466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239A-7ECE-C8B3-E865-5595C503C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7ADB0-7191-D080-D482-8472CB046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25029-1B80-70F9-1D4B-BE2707C1A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B4EF7-4DD3-D4F4-A12C-379C22783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342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5EA13-AF1A-8B70-96F6-19C21A3DE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ED5ED-DB7D-4BC8-B98A-A3CC29696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99350-DAA3-61A8-DC34-58BD693BD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98BFF-E1EC-42C7-6256-DA0762898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504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DF66E-23D1-8FD4-6C65-7826EE739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EED11-5708-90FB-D6A0-5DB662548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506FF-8AAC-DEB5-CEE8-9DBF9B861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8EDBF-6D04-5580-12FF-983D5EFA0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056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2270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6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304C88D0-29FE-C440-9C89-488968EEA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4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53D65A-B34C-B04E-8C59-65EFBD263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78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5840" y="3429000"/>
            <a:ext cx="8849360" cy="15001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Attributor name is 16pt Arial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840" y="1943100"/>
            <a:ext cx="8849360" cy="997196"/>
          </a:xfrm>
        </p:spPr>
        <p:txBody>
          <a:bodyPr anchor="b" anchorCtr="0"/>
          <a:lstStyle>
            <a:lvl1pPr algn="l" rtl="0" eaLnBrk="1" latinLnBrk="0" hangingPunct="1">
              <a:defRPr lang="en-US" sz="3600" smtClean="0">
                <a:effectLst/>
              </a:defRPr>
            </a:lvl1pPr>
          </a:lstStyle>
          <a:p>
            <a:pPr rtl="0" eaLnBrk="1" latinLnBrk="0" hangingPunct="1"/>
            <a:r>
              <a:rPr lang="en-US"/>
              <a:t>Click to edit statement or quote </a:t>
            </a:r>
            <a:br>
              <a:rPr lang="en-US"/>
            </a:br>
            <a:r>
              <a:rPr lang="en-US"/>
              <a:t>in Arial 36pt bold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0B4EFF-B670-387B-EBF2-318801CE65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4DEEBD-7FD8-B1BF-8875-FF2A60284D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9843C2-5350-C728-A4D6-7EEEACAF75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186"/>
            <a:ext cx="12192000" cy="686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14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2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6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627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9241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1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796" r:id="rId2"/>
    <p:sldLayoutId id="2147483797" r:id="rId3"/>
    <p:sldLayoutId id="2147483990" r:id="rId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5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5" r:id="rId2"/>
    <p:sldLayoutId id="2147483991" r:id="rId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CC2E60-57B6-1161-2BEC-AEB5B3562B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8659" y="3930889"/>
            <a:ext cx="8849360" cy="1500188"/>
          </a:xfrm>
        </p:spPr>
        <p:txBody>
          <a:bodyPr/>
          <a:lstStyle/>
          <a:p>
            <a:r>
              <a:rPr lang="en-US" sz="1800" dirty="0">
                <a:solidFill>
                  <a:srgbClr val="26EFE9"/>
                </a:solidFill>
              </a:rPr>
              <a:t>Idea Title :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AI-Powered Skin Health Companion for Indian Patients</a:t>
            </a:r>
            <a:endParaRPr lang="en-US" sz="1800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800" dirty="0">
                <a:solidFill>
                  <a:srgbClr val="26EFE9"/>
                </a:solidFill>
              </a:rPr>
              <a:t>Team Captain Name : </a:t>
            </a:r>
            <a:r>
              <a:rPr lang="en-IN" dirty="0" err="1">
                <a:solidFill>
                  <a:schemeClr val="bg1"/>
                </a:solidFill>
              </a:rPr>
              <a:t>Rajaganapathi</a:t>
            </a:r>
            <a:r>
              <a:rPr lang="en-IN" dirty="0">
                <a:solidFill>
                  <a:schemeClr val="bg1"/>
                </a:solidFill>
              </a:rPr>
              <a:t> M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rgbClr val="26EFE9"/>
                </a:solidFill>
              </a:rPr>
              <a:t>Team members Names : </a:t>
            </a:r>
            <a:r>
              <a:rPr lang="en-IN" dirty="0">
                <a:solidFill>
                  <a:schemeClr val="bg1"/>
                </a:solidFill>
              </a:rPr>
              <a:t>Divyasri M, Pradeep SA, Nivethika P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rgbClr val="26EFE9"/>
                </a:solidFill>
              </a:rPr>
              <a:t>College Name :</a:t>
            </a:r>
            <a:r>
              <a:rPr lang="en-IN" dirty="0" err="1">
                <a:solidFill>
                  <a:schemeClr val="bg1"/>
                </a:solidFill>
              </a:rPr>
              <a:t>Kalaingnar</a:t>
            </a:r>
            <a:r>
              <a:rPr lang="en-IN" dirty="0">
                <a:solidFill>
                  <a:schemeClr val="bg1"/>
                </a:solidFill>
              </a:rPr>
              <a:t> Karunanidhi Institute of Technology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5D5327-9268-AC36-16BC-D3D4B4F25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659" y="3089568"/>
            <a:ext cx="9338360" cy="677108"/>
          </a:xfrm>
        </p:spPr>
        <p:txBody>
          <a:bodyPr/>
          <a:lstStyle/>
          <a:p>
            <a:r>
              <a:rPr lang="en-IN" sz="4400" dirty="0">
                <a:solidFill>
                  <a:schemeClr val="bg1"/>
                </a:solidFill>
              </a:rPr>
              <a:t>MVP Presentation INSPIRA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4D593-0A14-7819-33D9-764A6414A6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413F6-478A-A902-39B1-3F8B38F63B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9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658E-EA74-4702-7179-E21A88D3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B8DBEF-A90E-75BD-2BC7-7AFC952C0D9E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DD68C-8495-5A60-1BE1-C5F37EFBD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820A1C-385C-1B2C-7EBF-696FA2291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7217ED1-02B9-3398-C290-8D4133CD5DC4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IN" dirty="0"/>
              <a:t> </a:t>
            </a:r>
            <a:r>
              <a:rPr lang="en-IN" dirty="0">
                <a:solidFill>
                  <a:schemeClr val="bg1"/>
                </a:solidFill>
              </a:rPr>
              <a:t>Problem Statement &amp; Solution Description</a:t>
            </a:r>
          </a:p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71EA97-7795-6D51-F716-B94C0F1807E9}"/>
              </a:ext>
            </a:extLst>
          </p:cNvPr>
          <p:cNvSpPr txBox="1"/>
          <p:nvPr/>
        </p:nvSpPr>
        <p:spPr>
          <a:xfrm>
            <a:off x="51681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96E19-4443-120E-D81A-C7692D38A498}"/>
              </a:ext>
            </a:extLst>
          </p:cNvPr>
          <p:cNvSpPr txBox="1"/>
          <p:nvPr/>
        </p:nvSpPr>
        <p:spPr>
          <a:xfrm>
            <a:off x="618878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1144D771-232B-BF8B-99CB-FE62206D01F0}"/>
              </a:ext>
            </a:extLst>
          </p:cNvPr>
          <p:cNvSpPr/>
          <p:nvPr/>
        </p:nvSpPr>
        <p:spPr>
          <a:xfrm>
            <a:off x="516815" y="1044264"/>
            <a:ext cx="3924300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4C65C9D-AA15-5E74-6D9B-F3AD0A55B29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39373"/>
            <a:ext cx="5192430" cy="4231213"/>
          </a:xfrm>
        </p:spPr>
        <p:txBody>
          <a:bodyPr/>
          <a:lstStyle/>
          <a:p>
            <a:pPr algn="just"/>
            <a:r>
              <a:rPr lang="en-US" sz="1300" b="1" dirty="0"/>
              <a:t>India faces a severe dermatologist shortage</a:t>
            </a:r>
            <a:r>
              <a:rPr lang="en-US" sz="1300" dirty="0"/>
              <a:t> — only 1 dermatologist per 100,000 people in rural areas. Over 180 million Indians suffer from skin conditions like acne, yet most lack access to timely diagnosis and follow-up care.</a:t>
            </a:r>
          </a:p>
          <a:p>
            <a:pPr algn="just"/>
            <a:r>
              <a:rPr lang="en-US" sz="1300" b="1" dirty="0"/>
              <a:t>Key problems:</a:t>
            </a:r>
            <a:endParaRPr lang="en-US" sz="1300" dirty="0"/>
          </a:p>
          <a:p>
            <a:pPr algn="just"/>
            <a:r>
              <a:rPr lang="en-US" sz="1300" dirty="0"/>
              <a:t>Patients wait weeks for dermatologist appointments, worsening conditions</a:t>
            </a:r>
          </a:p>
          <a:p>
            <a:pPr algn="just"/>
            <a:r>
              <a:rPr lang="en-US" sz="1300" dirty="0"/>
              <a:t>Language barriers prevent rural patients from understanding medical advice (Hindi, Tamil speakers)</a:t>
            </a:r>
          </a:p>
          <a:p>
            <a:pPr algn="just"/>
            <a:r>
              <a:rPr lang="en-US" sz="1300" dirty="0"/>
              <a:t>No continuity of care — patients get one consultation but no daily monitoring</a:t>
            </a:r>
          </a:p>
          <a:p>
            <a:pPr algn="just"/>
            <a:r>
              <a:rPr lang="en-US" sz="1300" dirty="0"/>
              <a:t>Sharing medical records with doctors is insecure and cumbersome</a:t>
            </a:r>
          </a:p>
          <a:p>
            <a:pPr algn="just"/>
            <a:r>
              <a:rPr lang="en-US" sz="1300" dirty="0"/>
              <a:t>Patients self-medicate without proper guidance, leading to complications</a:t>
            </a:r>
          </a:p>
          <a:p>
            <a:pPr algn="just"/>
            <a:r>
              <a:rPr lang="en-US" sz="1300" b="1" dirty="0"/>
              <a:t>Impact:</a:t>
            </a:r>
            <a:r>
              <a:rPr lang="en-US" sz="1300" dirty="0"/>
              <a:t> Delayed treatment leads to scarring, infection, mental health issues, and increased healthcare costs. 60% of acne patients in India don't seek treatment due to access barriers.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EDC63FB0-4F2F-5940-C47A-29942B42D70B}"/>
              </a:ext>
            </a:extLst>
          </p:cNvPr>
          <p:cNvSpPr/>
          <p:nvPr/>
        </p:nvSpPr>
        <p:spPr>
          <a:xfrm>
            <a:off x="6188785" y="1024939"/>
            <a:ext cx="3924300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46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Solution Description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1CEA55F-2FE1-D4B5-990B-70972475C51F}"/>
              </a:ext>
            </a:extLst>
          </p:cNvPr>
          <p:cNvSpPr txBox="1">
            <a:spLocks/>
          </p:cNvSpPr>
          <p:nvPr/>
        </p:nvSpPr>
        <p:spPr>
          <a:xfrm>
            <a:off x="6235831" y="1439373"/>
            <a:ext cx="5029200" cy="9548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300" b="1" dirty="0" err="1"/>
              <a:t>MediBot</a:t>
            </a:r>
            <a:r>
              <a:rPr lang="en-US" sz="1300" dirty="0"/>
              <a:t> is an AI-powered skin health companion that provides end-to-end patient care using AWS Bedrock (Claude AI):</a:t>
            </a:r>
          </a:p>
          <a:p>
            <a:pPr algn="just"/>
            <a:r>
              <a:rPr lang="en-US" sz="1300" b="1" dirty="0"/>
              <a:t>AI Triage</a:t>
            </a:r>
            <a:r>
              <a:rPr lang="en-US" sz="1300" dirty="0"/>
              <a:t> — Patient uploads a skin photo or describes symptoms in Hindi/Tamil/English. Claude AI analyzes and returns severity assessment with confidence score.</a:t>
            </a:r>
          </a:p>
          <a:p>
            <a:pPr algn="just"/>
            <a:r>
              <a:rPr lang="en-US" sz="1300" b="1" dirty="0"/>
              <a:t>Smart Guidance</a:t>
            </a:r>
            <a:r>
              <a:rPr lang="en-US" sz="1300" dirty="0"/>
              <a:t> — For low/medium severity: AI generates personalized home remedies and precautions in the patient's language. For high severity: immediate dermatologist booking.</a:t>
            </a:r>
          </a:p>
          <a:p>
            <a:pPr algn="just"/>
            <a:r>
              <a:rPr lang="en-US" sz="1300" b="1" dirty="0"/>
              <a:t>Appointment Booking</a:t>
            </a:r>
            <a:r>
              <a:rPr lang="en-US" sz="1300" dirty="0"/>
              <a:t> — One-click booking with nearby dermatologists showing real-time slot availability.</a:t>
            </a:r>
          </a:p>
          <a:p>
            <a:pPr algn="just"/>
            <a:r>
              <a:rPr lang="en-US" sz="1300" b="1" dirty="0"/>
              <a:t>Secure QR Sharing</a:t>
            </a:r>
            <a:r>
              <a:rPr lang="en-US" sz="1300" dirty="0"/>
              <a:t> — One-time-use QR code shares complete health records with the doctor. QR self-destructs after first scan (privacy by design).</a:t>
            </a:r>
          </a:p>
          <a:p>
            <a:pPr algn="just"/>
            <a:r>
              <a:rPr lang="en-US" sz="1300" b="1" dirty="0"/>
              <a:t>Daily Monitoring</a:t>
            </a:r>
            <a:r>
              <a:rPr lang="en-US" sz="1300" dirty="0"/>
              <a:t> — AI-powered daily check-ins track recovery. Automatic escalation if condition worsens.</a:t>
            </a:r>
          </a:p>
          <a:p>
            <a:pPr algn="just"/>
            <a:r>
              <a:rPr lang="en-US" sz="1300" b="1" dirty="0"/>
              <a:t>Doctor Portal</a:t>
            </a:r>
            <a:r>
              <a:rPr lang="en-US" sz="1300" dirty="0"/>
              <a:t> — Doctors scan QR to see full patient history, timeline, and AI assessment in one view.</a:t>
            </a:r>
          </a:p>
        </p:txBody>
      </p:sp>
    </p:spTree>
    <p:extLst>
      <p:ext uri="{BB962C8B-B14F-4D97-AF65-F5344CB8AC3E}">
        <p14:creationId xmlns:p14="http://schemas.microsoft.com/office/powerpoint/2010/main" val="1988725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8DD6-6B52-5474-6250-F96E193D9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468F1D-9D6A-599A-0443-E1FFE4CFDA8E}"/>
              </a:ext>
            </a:extLst>
          </p:cNvPr>
          <p:cNvSpPr/>
          <p:nvPr/>
        </p:nvSpPr>
        <p:spPr>
          <a:xfrm>
            <a:off x="0" y="-19244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17DB3-EA65-1A10-EB44-623354548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6F8504-8480-10FB-4507-ACE63C36B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407D3AD-54C1-1F86-6123-0DE94629CA82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 Uniqueness / Innovativeness &amp; Business Impact</a:t>
            </a:r>
          </a:p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38E29-9EFF-F208-66A5-0D909001F7B8}"/>
              </a:ext>
            </a:extLst>
          </p:cNvPr>
          <p:cNvSpPr txBox="1"/>
          <p:nvPr/>
        </p:nvSpPr>
        <p:spPr>
          <a:xfrm>
            <a:off x="51681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BDDDEF-C999-7A8D-AE1D-89507AEC2968}"/>
              </a:ext>
            </a:extLst>
          </p:cNvPr>
          <p:cNvSpPr txBox="1"/>
          <p:nvPr/>
        </p:nvSpPr>
        <p:spPr>
          <a:xfrm>
            <a:off x="6275473" y="1600200"/>
            <a:ext cx="5399711" cy="42328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IN" sz="1300" b="1" dirty="0"/>
              <a:t>Quantitative:</a:t>
            </a:r>
            <a:r>
              <a:rPr lang="en-IN" sz="1300" dirty="0"/>
              <a:t> Reduce average diagnosis time from 14 days to under 5 minutes. Serve 10,000+ patients per dermatologist through AI pre-screening.</a:t>
            </a:r>
          </a:p>
          <a:p>
            <a:pPr algn="just">
              <a:lnSpc>
                <a:spcPct val="150000"/>
              </a:lnSpc>
            </a:pPr>
            <a:r>
              <a:rPr lang="en-IN" sz="1300" b="1" dirty="0"/>
              <a:t>Cost Savings:</a:t>
            </a:r>
            <a:r>
              <a:rPr lang="en-IN" sz="1300" dirty="0"/>
              <a:t> ₹500-2000 saved per patient on unnecessary clinic visits for mild cases (AI provides home remedies).</a:t>
            </a:r>
          </a:p>
          <a:p>
            <a:pPr algn="just">
              <a:lnSpc>
                <a:spcPct val="150000"/>
              </a:lnSpc>
            </a:pPr>
            <a:r>
              <a:rPr lang="en-IN" sz="1300" b="1" dirty="0"/>
              <a:t>ROI:</a:t>
            </a:r>
            <a:r>
              <a:rPr lang="en-IN" sz="1300" dirty="0"/>
              <a:t> Serverless architecture costs ~₹2 per patient interaction. At scale (1M patients), total infrastructure cost &lt; ₹20 lakhs/year vs. ₹5 crores for equivalent human workforce.</a:t>
            </a:r>
          </a:p>
          <a:p>
            <a:pPr algn="just">
              <a:lnSpc>
                <a:spcPct val="150000"/>
              </a:lnSpc>
            </a:pPr>
            <a:r>
              <a:rPr lang="en-IN" sz="1300" b="1" dirty="0"/>
              <a:t>Healthcare Access:</a:t>
            </a:r>
            <a:r>
              <a:rPr lang="en-IN" sz="1300" dirty="0"/>
              <a:t> Bridge the urban-rural dermatology gap for 180M+ Indians with skin conditions.</a:t>
            </a:r>
          </a:p>
          <a:p>
            <a:pPr algn="just">
              <a:lnSpc>
                <a:spcPct val="150000"/>
              </a:lnSpc>
            </a:pPr>
            <a:r>
              <a:rPr lang="en-IN" sz="1300" b="1" dirty="0"/>
              <a:t>Compliance:</a:t>
            </a:r>
            <a:r>
              <a:rPr lang="en-IN" sz="1300" dirty="0"/>
              <a:t> Zero-knowledge QR sharing ensures patient data privacy (aligned with India's DPDP Act 2023).</a:t>
            </a:r>
          </a:p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525EBED6-B2DB-B91B-284D-B232A7F40575}"/>
              </a:ext>
            </a:extLst>
          </p:cNvPr>
          <p:cNvSpPr/>
          <p:nvPr/>
        </p:nvSpPr>
        <p:spPr>
          <a:xfrm>
            <a:off x="516815" y="1024940"/>
            <a:ext cx="3924300" cy="39266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Uniqueness / Innovativeness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F293E2CD-A5B9-36EA-2CDA-4A9098BC00B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3504" y="1461145"/>
            <a:ext cx="5399711" cy="4371915"/>
          </a:xfrm>
        </p:spPr>
        <p:txBody>
          <a:bodyPr/>
          <a:lstStyle/>
          <a:p>
            <a:pPr algn="just"/>
            <a:r>
              <a:rPr lang="en-IN" sz="1300" b="1" dirty="0"/>
              <a:t>Multilingual AI Triage</a:t>
            </a:r>
            <a:r>
              <a:rPr lang="en-IN" sz="1300" dirty="0"/>
              <a:t> — First skin health app using GenAI (Claude) that </a:t>
            </a:r>
            <a:r>
              <a:rPr lang="en-IN" sz="1300" dirty="0" err="1"/>
              <a:t>analyzes</a:t>
            </a:r>
            <a:r>
              <a:rPr lang="en-IN" sz="1300" dirty="0"/>
              <a:t> symptoms and generates guidance in Hindi, Tamil, and English natively — not just translated, but culturally appropriate advice.</a:t>
            </a:r>
          </a:p>
          <a:p>
            <a:pPr algn="just"/>
            <a:r>
              <a:rPr lang="en-IN" sz="1300" b="1" dirty="0"/>
              <a:t>Destroy-on-Scan QR</a:t>
            </a:r>
            <a:r>
              <a:rPr lang="en-IN" sz="1300" dirty="0"/>
              <a:t> — Cryptographically secure, single-use QR codes with 5-minute TTL. Uses DynamoDB atomic conditional updates to guarantee exactly-once access. Even a photograph of the QR is useless after first scan.</a:t>
            </a:r>
          </a:p>
          <a:p>
            <a:pPr algn="just"/>
            <a:r>
              <a:rPr lang="en-IN" sz="1300" b="1" dirty="0"/>
              <a:t>AI-Powered Recovery Monitoring</a:t>
            </a:r>
            <a:r>
              <a:rPr lang="en-IN" sz="1300" dirty="0"/>
              <a:t> — Unlike static apps, </a:t>
            </a:r>
            <a:r>
              <a:rPr lang="en-IN" sz="1300" dirty="0" err="1"/>
              <a:t>MediBot</a:t>
            </a:r>
            <a:r>
              <a:rPr lang="en-IN" sz="1300" dirty="0"/>
              <a:t> actively monitors patients daily with intelligent escalation logic  (3 consecutive "worse" → urgent alert, 7 consecutive "better" → cure confirmation).</a:t>
            </a:r>
          </a:p>
          <a:p>
            <a:pPr algn="just"/>
            <a:r>
              <a:rPr lang="en-IN" sz="1300" b="1" dirty="0"/>
              <a:t>Prescription OCR + AI Parsing</a:t>
            </a:r>
            <a:r>
              <a:rPr lang="en-IN" sz="1300" dirty="0"/>
              <a:t> — Patient photographs prescription → AWS </a:t>
            </a:r>
            <a:r>
              <a:rPr lang="en-IN" sz="1300" dirty="0" err="1"/>
              <a:t>Textract</a:t>
            </a:r>
            <a:r>
              <a:rPr lang="en-IN" sz="1300" dirty="0"/>
              <a:t> extracts text → Claude AI parses medicine names, dosages, and durations into structured data → automatic daily reminders.</a:t>
            </a:r>
          </a:p>
          <a:p>
            <a:pPr algn="just"/>
            <a:r>
              <a:rPr lang="en-IN" sz="1300" b="1" dirty="0"/>
              <a:t>No existing solution</a:t>
            </a:r>
            <a:r>
              <a:rPr lang="en-IN" sz="1300" dirty="0"/>
              <a:t> combines AI triage + multilingual support + secure sharing + active monitoring in one platform for Indian patients.</a:t>
            </a:r>
          </a:p>
          <a:p>
            <a:pPr indent="-122238">
              <a:spcBef>
                <a:spcPts val="0"/>
              </a:spcBef>
              <a:defRPr/>
            </a:pP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65185B65-BFBE-8996-BFCB-A93D2E21224C}"/>
              </a:ext>
            </a:extLst>
          </p:cNvPr>
          <p:cNvSpPr/>
          <p:nvPr/>
        </p:nvSpPr>
        <p:spPr>
          <a:xfrm>
            <a:off x="6188785" y="1024939"/>
            <a:ext cx="4522758" cy="414434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>
                <a:solidFill>
                  <a:schemeClr val="bg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Business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 Impact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A194955-6208-156E-96F5-58AEA47DF8BA}"/>
              </a:ext>
            </a:extLst>
          </p:cNvPr>
          <p:cNvSpPr txBox="1">
            <a:spLocks/>
          </p:cNvSpPr>
          <p:nvPr/>
        </p:nvSpPr>
        <p:spPr>
          <a:xfrm>
            <a:off x="6268489" y="1461145"/>
            <a:ext cx="5029200" cy="9548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024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" name="Text 1"/>
          <p:cNvSpPr/>
          <p:nvPr/>
        </p:nvSpPr>
        <p:spPr>
          <a:xfrm>
            <a:off x="365760" y="219456"/>
            <a:ext cx="11216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Journey — End to End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acne care flow from symptom to cure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365760" y="1316736"/>
            <a:ext cx="11460480" cy="0"/>
          </a:xfrm>
          <a:prstGeom prst="line">
            <a:avLst/>
          </a:prstGeom>
          <a:noFill/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" name="Shape 5"/>
          <p:cNvSpPr/>
          <p:nvPr/>
        </p:nvSpPr>
        <p:spPr>
          <a:xfrm>
            <a:off x="341376" y="1487424"/>
            <a:ext cx="2706624" cy="2218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8" name="Shape 6"/>
          <p:cNvSpPr/>
          <p:nvPr/>
        </p:nvSpPr>
        <p:spPr>
          <a:xfrm>
            <a:off x="341376" y="1487424"/>
            <a:ext cx="2706624" cy="426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9" name="Text 7"/>
          <p:cNvSpPr/>
          <p:nvPr/>
        </p:nvSpPr>
        <p:spPr>
          <a:xfrm>
            <a:off x="341376" y="1487424"/>
            <a:ext cx="4632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341376" y="1950720"/>
            <a:ext cx="27066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933" dirty="0"/>
          </a:p>
        </p:txBody>
      </p:sp>
      <p:sp>
        <p:nvSpPr>
          <p:cNvPr id="11" name="Text 9"/>
          <p:cNvSpPr/>
          <p:nvPr/>
        </p:nvSpPr>
        <p:spPr>
          <a:xfrm>
            <a:off x="341376" y="256032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438912" y="3121152"/>
            <a:ext cx="2511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· Voice</a:t>
            </a:r>
            <a:endParaRPr lang="en-US" sz="1133" dirty="0"/>
          </a:p>
          <a:p>
            <a:pPr algn="ctr"/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Text</a:t>
            </a:r>
            <a:endParaRPr lang="en-US" sz="1133" dirty="0"/>
          </a:p>
        </p:txBody>
      </p:sp>
      <p:sp>
        <p:nvSpPr>
          <p:cNvPr id="13" name="Shape 11"/>
          <p:cNvSpPr/>
          <p:nvPr/>
        </p:nvSpPr>
        <p:spPr>
          <a:xfrm>
            <a:off x="3048000" y="2584704"/>
            <a:ext cx="19507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Shape 12"/>
          <p:cNvSpPr/>
          <p:nvPr/>
        </p:nvSpPr>
        <p:spPr>
          <a:xfrm>
            <a:off x="3243072" y="1487424"/>
            <a:ext cx="2706624" cy="2218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5" name="Shape 13"/>
          <p:cNvSpPr/>
          <p:nvPr/>
        </p:nvSpPr>
        <p:spPr>
          <a:xfrm>
            <a:off x="3243072" y="1487424"/>
            <a:ext cx="2706624" cy="426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3243072" y="1487424"/>
            <a:ext cx="4632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3243072" y="1950720"/>
            <a:ext cx="27066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933" dirty="0"/>
          </a:p>
        </p:txBody>
      </p:sp>
      <p:sp>
        <p:nvSpPr>
          <p:cNvPr id="18" name="Text 16"/>
          <p:cNvSpPr/>
          <p:nvPr/>
        </p:nvSpPr>
        <p:spPr>
          <a:xfrm>
            <a:off x="3243072" y="256032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3340608" y="3121152"/>
            <a:ext cx="2511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Vision</a:t>
            </a:r>
            <a:endParaRPr lang="en-US" sz="1133" dirty="0"/>
          </a:p>
          <a:p>
            <a:pPr algn="ctr"/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133" dirty="0"/>
          </a:p>
        </p:txBody>
      </p:sp>
      <p:sp>
        <p:nvSpPr>
          <p:cNvPr id="20" name="Shape 18"/>
          <p:cNvSpPr/>
          <p:nvPr/>
        </p:nvSpPr>
        <p:spPr>
          <a:xfrm>
            <a:off x="5949696" y="2584704"/>
            <a:ext cx="19507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1" name="Shape 19"/>
          <p:cNvSpPr/>
          <p:nvPr/>
        </p:nvSpPr>
        <p:spPr>
          <a:xfrm>
            <a:off x="6144768" y="1487424"/>
            <a:ext cx="2706624" cy="2218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2" name="Shape 20"/>
          <p:cNvSpPr/>
          <p:nvPr/>
        </p:nvSpPr>
        <p:spPr>
          <a:xfrm>
            <a:off x="6144768" y="1487424"/>
            <a:ext cx="2706624" cy="426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3" name="Text 21"/>
          <p:cNvSpPr/>
          <p:nvPr/>
        </p:nvSpPr>
        <p:spPr>
          <a:xfrm>
            <a:off x="6144768" y="1487424"/>
            <a:ext cx="4632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6144768" y="1950720"/>
            <a:ext cx="27066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</a:t>
            </a:r>
            <a:endParaRPr lang="en-US" sz="2933" dirty="0"/>
          </a:p>
        </p:txBody>
      </p:sp>
      <p:sp>
        <p:nvSpPr>
          <p:cNvPr id="25" name="Text 23"/>
          <p:cNvSpPr/>
          <p:nvPr/>
        </p:nvSpPr>
        <p:spPr>
          <a:xfrm>
            <a:off x="6144768" y="256032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6242304" y="3121152"/>
            <a:ext cx="2511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home</a:t>
            </a:r>
            <a:endParaRPr lang="en-US" sz="1133" dirty="0"/>
          </a:p>
          <a:p>
            <a:pPr algn="ctr"/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steps</a:t>
            </a:r>
            <a:endParaRPr lang="en-US" sz="1133" dirty="0"/>
          </a:p>
        </p:txBody>
      </p:sp>
      <p:sp>
        <p:nvSpPr>
          <p:cNvPr id="27" name="Shape 25"/>
          <p:cNvSpPr/>
          <p:nvPr/>
        </p:nvSpPr>
        <p:spPr>
          <a:xfrm>
            <a:off x="8851392" y="2584704"/>
            <a:ext cx="19507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8" name="Shape 26"/>
          <p:cNvSpPr/>
          <p:nvPr/>
        </p:nvSpPr>
        <p:spPr>
          <a:xfrm>
            <a:off x="9046464" y="1487424"/>
            <a:ext cx="2706624" cy="2218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9" name="Shape 27"/>
          <p:cNvSpPr/>
          <p:nvPr/>
        </p:nvSpPr>
        <p:spPr>
          <a:xfrm>
            <a:off x="9046464" y="1487424"/>
            <a:ext cx="2706624" cy="426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0" name="Text 28"/>
          <p:cNvSpPr/>
          <p:nvPr/>
        </p:nvSpPr>
        <p:spPr>
          <a:xfrm>
            <a:off x="9046464" y="1487424"/>
            <a:ext cx="4632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67" dirty="0"/>
          </a:p>
        </p:txBody>
      </p:sp>
      <p:sp>
        <p:nvSpPr>
          <p:cNvPr id="31" name="Text 29"/>
          <p:cNvSpPr/>
          <p:nvPr/>
        </p:nvSpPr>
        <p:spPr>
          <a:xfrm>
            <a:off x="9046464" y="1950720"/>
            <a:ext cx="27066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933" dirty="0"/>
          </a:p>
        </p:txBody>
      </p:sp>
      <p:sp>
        <p:nvSpPr>
          <p:cNvPr id="32" name="Text 30"/>
          <p:cNvSpPr/>
          <p:nvPr/>
        </p:nvSpPr>
        <p:spPr>
          <a:xfrm>
            <a:off x="9046464" y="256032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467" dirty="0"/>
          </a:p>
        </p:txBody>
      </p:sp>
      <p:sp>
        <p:nvSpPr>
          <p:cNvPr id="33" name="Text 31"/>
          <p:cNvSpPr/>
          <p:nvPr/>
        </p:nvSpPr>
        <p:spPr>
          <a:xfrm>
            <a:off x="9144000" y="3121152"/>
            <a:ext cx="2511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Dermatologist</a:t>
            </a:r>
            <a:endParaRPr lang="en-US" sz="1133" dirty="0"/>
          </a:p>
          <a:p>
            <a:pPr algn="ctr"/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</a:t>
            </a:r>
            <a:endParaRPr lang="en-US" sz="1133" dirty="0"/>
          </a:p>
        </p:txBody>
      </p:sp>
      <p:sp>
        <p:nvSpPr>
          <p:cNvPr id="34" name="Shape 32"/>
          <p:cNvSpPr/>
          <p:nvPr/>
        </p:nvSpPr>
        <p:spPr>
          <a:xfrm>
            <a:off x="341376" y="3986784"/>
            <a:ext cx="2706624" cy="2218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35" name="Shape 33"/>
          <p:cNvSpPr/>
          <p:nvPr/>
        </p:nvSpPr>
        <p:spPr>
          <a:xfrm>
            <a:off x="341376" y="3986784"/>
            <a:ext cx="2706624" cy="426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6" name="Text 34"/>
          <p:cNvSpPr/>
          <p:nvPr/>
        </p:nvSpPr>
        <p:spPr>
          <a:xfrm>
            <a:off x="341376" y="3986784"/>
            <a:ext cx="4632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67" dirty="0"/>
          </a:p>
        </p:txBody>
      </p:sp>
      <p:sp>
        <p:nvSpPr>
          <p:cNvPr id="37" name="Text 35"/>
          <p:cNvSpPr/>
          <p:nvPr/>
        </p:nvSpPr>
        <p:spPr>
          <a:xfrm>
            <a:off x="341376" y="4450080"/>
            <a:ext cx="27066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</a:t>
            </a:r>
            <a:endParaRPr lang="en-US" sz="2933" dirty="0"/>
          </a:p>
        </p:txBody>
      </p:sp>
      <p:sp>
        <p:nvSpPr>
          <p:cNvPr id="38" name="Text 36"/>
          <p:cNvSpPr/>
          <p:nvPr/>
        </p:nvSpPr>
        <p:spPr>
          <a:xfrm>
            <a:off x="341376" y="505968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467" dirty="0"/>
          </a:p>
        </p:txBody>
      </p:sp>
      <p:sp>
        <p:nvSpPr>
          <p:cNvPr id="39" name="Text 37"/>
          <p:cNvSpPr/>
          <p:nvPr/>
        </p:nvSpPr>
        <p:spPr>
          <a:xfrm>
            <a:off x="438912" y="5620512"/>
            <a:ext cx="2511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133" dirty="0"/>
          </a:p>
          <a:p>
            <a:pPr algn="ctr"/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better</a:t>
            </a:r>
            <a:endParaRPr lang="en-US" sz="1133" dirty="0"/>
          </a:p>
        </p:txBody>
      </p:sp>
      <p:sp>
        <p:nvSpPr>
          <p:cNvPr id="40" name="Shape 38"/>
          <p:cNvSpPr/>
          <p:nvPr/>
        </p:nvSpPr>
        <p:spPr>
          <a:xfrm>
            <a:off x="3048000" y="5084064"/>
            <a:ext cx="19507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1" name="Shape 39"/>
          <p:cNvSpPr/>
          <p:nvPr/>
        </p:nvSpPr>
        <p:spPr>
          <a:xfrm>
            <a:off x="3243072" y="3986784"/>
            <a:ext cx="2706624" cy="2218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42" name="Shape 40"/>
          <p:cNvSpPr/>
          <p:nvPr/>
        </p:nvSpPr>
        <p:spPr>
          <a:xfrm>
            <a:off x="3243072" y="3986784"/>
            <a:ext cx="2706624" cy="426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3" name="Text 41"/>
          <p:cNvSpPr/>
          <p:nvPr/>
        </p:nvSpPr>
        <p:spPr>
          <a:xfrm>
            <a:off x="3243072" y="3986784"/>
            <a:ext cx="4632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67" dirty="0"/>
          </a:p>
        </p:txBody>
      </p:sp>
      <p:sp>
        <p:nvSpPr>
          <p:cNvPr id="44" name="Text 42"/>
          <p:cNvSpPr/>
          <p:nvPr/>
        </p:nvSpPr>
        <p:spPr>
          <a:xfrm>
            <a:off x="3243072" y="4450080"/>
            <a:ext cx="27066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</a:t>
            </a:r>
            <a:endParaRPr lang="en-US" sz="2933" dirty="0"/>
          </a:p>
        </p:txBody>
      </p:sp>
      <p:sp>
        <p:nvSpPr>
          <p:cNvPr id="45" name="Text 43"/>
          <p:cNvSpPr/>
          <p:nvPr/>
        </p:nvSpPr>
        <p:spPr>
          <a:xfrm>
            <a:off x="3243072" y="505968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467" dirty="0"/>
          </a:p>
        </p:txBody>
      </p:sp>
      <p:sp>
        <p:nvSpPr>
          <p:cNvPr id="46" name="Text 44"/>
          <p:cNvSpPr/>
          <p:nvPr/>
        </p:nvSpPr>
        <p:spPr>
          <a:xfrm>
            <a:off x="3340608" y="5620512"/>
            <a:ext cx="2511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scans</a:t>
            </a:r>
            <a:endParaRPr lang="en-US" sz="1133" dirty="0"/>
          </a:p>
          <a:p>
            <a:pPr algn="ctr"/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only</a:t>
            </a:r>
            <a:endParaRPr lang="en-US" sz="1133" dirty="0"/>
          </a:p>
        </p:txBody>
      </p:sp>
      <p:sp>
        <p:nvSpPr>
          <p:cNvPr id="47" name="Shape 45"/>
          <p:cNvSpPr/>
          <p:nvPr/>
        </p:nvSpPr>
        <p:spPr>
          <a:xfrm>
            <a:off x="5949696" y="5084064"/>
            <a:ext cx="19507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8" name="Shape 46"/>
          <p:cNvSpPr/>
          <p:nvPr/>
        </p:nvSpPr>
        <p:spPr>
          <a:xfrm>
            <a:off x="6144768" y="3986784"/>
            <a:ext cx="2706624" cy="2218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49" name="Shape 47"/>
          <p:cNvSpPr/>
          <p:nvPr/>
        </p:nvSpPr>
        <p:spPr>
          <a:xfrm>
            <a:off x="6144768" y="3986784"/>
            <a:ext cx="2706624" cy="426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0" name="Text 48"/>
          <p:cNvSpPr/>
          <p:nvPr/>
        </p:nvSpPr>
        <p:spPr>
          <a:xfrm>
            <a:off x="6144768" y="3986784"/>
            <a:ext cx="4632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67" dirty="0"/>
          </a:p>
        </p:txBody>
      </p:sp>
      <p:sp>
        <p:nvSpPr>
          <p:cNvPr id="51" name="Text 49"/>
          <p:cNvSpPr/>
          <p:nvPr/>
        </p:nvSpPr>
        <p:spPr>
          <a:xfrm>
            <a:off x="6144768" y="4450080"/>
            <a:ext cx="27066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933" dirty="0"/>
          </a:p>
        </p:txBody>
      </p:sp>
      <p:sp>
        <p:nvSpPr>
          <p:cNvPr id="52" name="Text 50"/>
          <p:cNvSpPr/>
          <p:nvPr/>
        </p:nvSpPr>
        <p:spPr>
          <a:xfrm>
            <a:off x="6144768" y="505968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1467" dirty="0"/>
          </a:p>
        </p:txBody>
      </p:sp>
      <p:sp>
        <p:nvSpPr>
          <p:cNvPr id="53" name="Text 51"/>
          <p:cNvSpPr/>
          <p:nvPr/>
        </p:nvSpPr>
        <p:spPr>
          <a:xfrm>
            <a:off x="6242304" y="5620512"/>
            <a:ext cx="2511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reads</a:t>
            </a:r>
            <a:endParaRPr lang="en-US" sz="1133" dirty="0"/>
          </a:p>
          <a:p>
            <a:pPr algn="ctr"/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set</a:t>
            </a:r>
            <a:endParaRPr lang="en-US" sz="1133" dirty="0"/>
          </a:p>
        </p:txBody>
      </p:sp>
      <p:sp>
        <p:nvSpPr>
          <p:cNvPr id="54" name="Shape 52"/>
          <p:cNvSpPr/>
          <p:nvPr/>
        </p:nvSpPr>
        <p:spPr>
          <a:xfrm>
            <a:off x="8851392" y="5084064"/>
            <a:ext cx="19507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5" name="Shape 53"/>
          <p:cNvSpPr/>
          <p:nvPr/>
        </p:nvSpPr>
        <p:spPr>
          <a:xfrm>
            <a:off x="9046464" y="3986784"/>
            <a:ext cx="2706624" cy="2218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56" name="Shape 54"/>
          <p:cNvSpPr/>
          <p:nvPr/>
        </p:nvSpPr>
        <p:spPr>
          <a:xfrm>
            <a:off x="9046464" y="3986784"/>
            <a:ext cx="2706624" cy="426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7" name="Text 55"/>
          <p:cNvSpPr/>
          <p:nvPr/>
        </p:nvSpPr>
        <p:spPr>
          <a:xfrm>
            <a:off x="9046464" y="3986784"/>
            <a:ext cx="4632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67" dirty="0"/>
          </a:p>
        </p:txBody>
      </p:sp>
      <p:sp>
        <p:nvSpPr>
          <p:cNvPr id="58" name="Text 56"/>
          <p:cNvSpPr/>
          <p:nvPr/>
        </p:nvSpPr>
        <p:spPr>
          <a:xfrm>
            <a:off x="9046464" y="4450080"/>
            <a:ext cx="27066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933" dirty="0"/>
          </a:p>
        </p:txBody>
      </p:sp>
      <p:sp>
        <p:nvSpPr>
          <p:cNvPr id="59" name="Text 57"/>
          <p:cNvSpPr/>
          <p:nvPr/>
        </p:nvSpPr>
        <p:spPr>
          <a:xfrm>
            <a:off x="9046464" y="505968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CURED</a:t>
            </a:r>
            <a:endParaRPr lang="en-US" sz="1467" dirty="0"/>
          </a:p>
        </p:txBody>
      </p:sp>
      <p:sp>
        <p:nvSpPr>
          <p:cNvPr id="60" name="Text 58"/>
          <p:cNvSpPr/>
          <p:nvPr/>
        </p:nvSpPr>
        <p:spPr>
          <a:xfrm>
            <a:off x="9144000" y="5620512"/>
            <a:ext cx="2511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saved</a:t>
            </a:r>
            <a:endParaRPr lang="en-US" sz="1133" dirty="0"/>
          </a:p>
          <a:p>
            <a:pPr algn="ctr"/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timeline</a:t>
            </a:r>
            <a:endParaRPr lang="en-US" sz="1133" dirty="0"/>
          </a:p>
        </p:txBody>
      </p:sp>
      <p:sp>
        <p:nvSpPr>
          <p:cNvPr id="61" name="Shape 59"/>
          <p:cNvSpPr/>
          <p:nvPr/>
        </p:nvSpPr>
        <p:spPr>
          <a:xfrm>
            <a:off x="219456" y="6254496"/>
            <a:ext cx="11509248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62" name="Text 60"/>
          <p:cNvSpPr/>
          <p:nvPr/>
        </p:nvSpPr>
        <p:spPr>
          <a:xfrm>
            <a:off x="341376" y="6217920"/>
            <a:ext cx="11509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Voice is multilingual </a:t>
            </a:r>
            <a:endParaRPr lang="en-US" sz="13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" name="Text 1"/>
          <p:cNvSpPr/>
          <p:nvPr/>
        </p:nvSpPr>
        <p:spPr>
          <a:xfrm>
            <a:off x="365760" y="219456"/>
            <a:ext cx="11216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AWS serverless · Kiro Pro · Strands Agents SDK · Bedrock Vision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365760" y="1316736"/>
            <a:ext cx="11460480" cy="0"/>
          </a:xfrm>
          <a:prstGeom prst="line">
            <a:avLst/>
          </a:prstGeom>
          <a:noFill/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Text 4"/>
          <p:cNvSpPr/>
          <p:nvPr/>
        </p:nvSpPr>
        <p:spPr>
          <a:xfrm>
            <a:off x="365760" y="6437376"/>
            <a:ext cx="11460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  |  TECHNOVERSE HACKATHON 2026  |  MediBot MVP</a:t>
            </a:r>
            <a:endParaRPr lang="en-US" sz="1067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670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67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ARCHITECTURE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6583680" cy="999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97536" cy="999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633984" y="1926336"/>
            <a:ext cx="6217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Agent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3984" y="2231136"/>
            <a:ext cx="615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skin photo via Bedrock Vision</a:t>
            </a:r>
            <a:endParaRPr lang="en-US" sz="1267" dirty="0"/>
          </a:p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Mild / Moderate / Severe + risk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365760" y="2987040"/>
            <a:ext cx="6583680" cy="999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3" name="Shape 11"/>
          <p:cNvSpPr/>
          <p:nvPr/>
        </p:nvSpPr>
        <p:spPr>
          <a:xfrm>
            <a:off x="365760" y="2987040"/>
            <a:ext cx="97536" cy="999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633984" y="3084576"/>
            <a:ext cx="6217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 Agent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984" y="3389376"/>
            <a:ext cx="615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safe home-care in patient language</a:t>
            </a:r>
            <a:endParaRPr lang="en-US" sz="1267" dirty="0"/>
          </a:p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(Hindi · Tamil · English)</a:t>
            </a:r>
            <a:endParaRPr lang="en-US" sz="1267" dirty="0"/>
          </a:p>
        </p:txBody>
      </p:sp>
      <p:sp>
        <p:nvSpPr>
          <p:cNvPr id="16" name="Shape 14"/>
          <p:cNvSpPr/>
          <p:nvPr/>
        </p:nvSpPr>
        <p:spPr>
          <a:xfrm>
            <a:off x="365760" y="4145280"/>
            <a:ext cx="6583680" cy="999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7" name="Shape 15"/>
          <p:cNvSpPr/>
          <p:nvPr/>
        </p:nvSpPr>
        <p:spPr>
          <a:xfrm>
            <a:off x="365760" y="4145280"/>
            <a:ext cx="97536" cy="999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8" name="Text 16"/>
          <p:cNvSpPr/>
          <p:nvPr/>
        </p:nvSpPr>
        <p:spPr>
          <a:xfrm>
            <a:off x="633984" y="4242816"/>
            <a:ext cx="6217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Agent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3984" y="4547616"/>
            <a:ext cx="615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check-ins via EventBridge</a:t>
            </a:r>
            <a:endParaRPr lang="en-US" sz="1267" dirty="0"/>
          </a:p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if worsening — marks CURED</a:t>
            </a:r>
            <a:endParaRPr lang="en-US" sz="1267" dirty="0"/>
          </a:p>
        </p:txBody>
      </p:sp>
      <p:sp>
        <p:nvSpPr>
          <p:cNvPr id="20" name="Shape 18"/>
          <p:cNvSpPr/>
          <p:nvPr/>
        </p:nvSpPr>
        <p:spPr>
          <a:xfrm>
            <a:off x="365760" y="5303520"/>
            <a:ext cx="6583680" cy="999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1" name="Shape 19"/>
          <p:cNvSpPr/>
          <p:nvPr/>
        </p:nvSpPr>
        <p:spPr>
          <a:xfrm>
            <a:off x="365760" y="5303520"/>
            <a:ext cx="97536" cy="99974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633984" y="5401056"/>
            <a:ext cx="6217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Agent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3984" y="5705856"/>
            <a:ext cx="615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Textract OCR reads prescription</a:t>
            </a:r>
            <a:endParaRPr lang="en-US" sz="1267" dirty="0"/>
          </a:p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medicines, sets daily reminders</a:t>
            </a:r>
            <a:endParaRPr lang="en-US" sz="1267" dirty="0"/>
          </a:p>
        </p:txBody>
      </p:sp>
      <p:sp>
        <p:nvSpPr>
          <p:cNvPr id="24" name="Text 22"/>
          <p:cNvSpPr/>
          <p:nvPr/>
        </p:nvSpPr>
        <p:spPr>
          <a:xfrm>
            <a:off x="7315200" y="1463040"/>
            <a:ext cx="4511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67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0" y="1828800"/>
            <a:ext cx="2170176" cy="792480"/>
          </a:xfrm>
          <a:prstGeom prst="rect">
            <a:avLst/>
          </a:prstGeom>
          <a:solidFill>
            <a:srgbClr val="FFF8EC"/>
          </a:solidFill>
          <a:ln w="63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6" name="Text 24"/>
          <p:cNvSpPr/>
          <p:nvPr/>
        </p:nvSpPr>
        <p:spPr>
          <a:xfrm>
            <a:off x="7388352" y="1889760"/>
            <a:ext cx="20238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</a:t>
            </a:r>
            <a:endParaRPr lang="en-US" sz="1333" dirty="0"/>
          </a:p>
        </p:txBody>
      </p:sp>
      <p:sp>
        <p:nvSpPr>
          <p:cNvPr id="27" name="Text 25"/>
          <p:cNvSpPr/>
          <p:nvPr/>
        </p:nvSpPr>
        <p:spPr>
          <a:xfrm>
            <a:off x="7388352" y="2194560"/>
            <a:ext cx="2023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 Sonnet</a:t>
            </a:r>
            <a:endParaRPr lang="en-US" sz="1133" dirty="0"/>
          </a:p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+ NLP</a:t>
            </a:r>
            <a:endParaRPr lang="en-US" sz="1133" dirty="0"/>
          </a:p>
        </p:txBody>
      </p:sp>
      <p:sp>
        <p:nvSpPr>
          <p:cNvPr id="28" name="Shape 26"/>
          <p:cNvSpPr/>
          <p:nvPr/>
        </p:nvSpPr>
        <p:spPr>
          <a:xfrm>
            <a:off x="9631680" y="1828800"/>
            <a:ext cx="2170176" cy="792480"/>
          </a:xfrm>
          <a:prstGeom prst="rect">
            <a:avLst/>
          </a:prstGeom>
          <a:solidFill>
            <a:srgbClr val="FFF8EC"/>
          </a:solidFill>
          <a:ln w="63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9" name="Text 27"/>
          <p:cNvSpPr/>
          <p:nvPr/>
        </p:nvSpPr>
        <p:spPr>
          <a:xfrm>
            <a:off x="9704832" y="1889760"/>
            <a:ext cx="20238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333" dirty="0"/>
          </a:p>
        </p:txBody>
      </p:sp>
      <p:sp>
        <p:nvSpPr>
          <p:cNvPr id="30" name="Text 28"/>
          <p:cNvSpPr/>
          <p:nvPr/>
        </p:nvSpPr>
        <p:spPr>
          <a:xfrm>
            <a:off x="9704832" y="2194560"/>
            <a:ext cx="2023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to text</a:t>
            </a:r>
            <a:endParaRPr lang="en-US" sz="1133" dirty="0"/>
          </a:p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· Tamil</a:t>
            </a:r>
            <a:endParaRPr lang="en-US" sz="1133" dirty="0"/>
          </a:p>
        </p:txBody>
      </p:sp>
      <p:sp>
        <p:nvSpPr>
          <p:cNvPr id="31" name="Shape 29"/>
          <p:cNvSpPr/>
          <p:nvPr/>
        </p:nvSpPr>
        <p:spPr>
          <a:xfrm>
            <a:off x="7315200" y="2767584"/>
            <a:ext cx="2170176" cy="792480"/>
          </a:xfrm>
          <a:prstGeom prst="rect">
            <a:avLst/>
          </a:prstGeom>
          <a:solidFill>
            <a:srgbClr val="FFF8EC"/>
          </a:solidFill>
          <a:ln w="63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32" name="Text 30"/>
          <p:cNvSpPr/>
          <p:nvPr/>
        </p:nvSpPr>
        <p:spPr>
          <a:xfrm>
            <a:off x="7388352" y="2828544"/>
            <a:ext cx="20238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Polly</a:t>
            </a:r>
            <a:endParaRPr lang="en-US" sz="1333" dirty="0"/>
          </a:p>
        </p:txBody>
      </p:sp>
      <p:sp>
        <p:nvSpPr>
          <p:cNvPr id="33" name="Text 31"/>
          <p:cNvSpPr/>
          <p:nvPr/>
        </p:nvSpPr>
        <p:spPr>
          <a:xfrm>
            <a:off x="7388352" y="3133344"/>
            <a:ext cx="2023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to speech</a:t>
            </a:r>
            <a:endParaRPr lang="en-US" sz="1133" dirty="0"/>
          </a:p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133" dirty="0"/>
          </a:p>
        </p:txBody>
      </p:sp>
      <p:sp>
        <p:nvSpPr>
          <p:cNvPr id="34" name="Shape 32"/>
          <p:cNvSpPr/>
          <p:nvPr/>
        </p:nvSpPr>
        <p:spPr>
          <a:xfrm>
            <a:off x="9631680" y="2767584"/>
            <a:ext cx="2170176" cy="792480"/>
          </a:xfrm>
          <a:prstGeom prst="rect">
            <a:avLst/>
          </a:prstGeom>
          <a:solidFill>
            <a:srgbClr val="FFF8EC"/>
          </a:solidFill>
          <a:ln w="63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35" name="Text 33"/>
          <p:cNvSpPr/>
          <p:nvPr/>
        </p:nvSpPr>
        <p:spPr>
          <a:xfrm>
            <a:off x="9704832" y="2828544"/>
            <a:ext cx="20238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</a:t>
            </a:r>
            <a:endParaRPr lang="en-US" sz="1333" dirty="0"/>
          </a:p>
        </p:txBody>
      </p:sp>
      <p:sp>
        <p:nvSpPr>
          <p:cNvPr id="36" name="Text 34"/>
          <p:cNvSpPr/>
          <p:nvPr/>
        </p:nvSpPr>
        <p:spPr>
          <a:xfrm>
            <a:off x="9704832" y="3133344"/>
            <a:ext cx="2023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OCR</a:t>
            </a:r>
            <a:endParaRPr lang="en-US" sz="1133" dirty="0"/>
          </a:p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Auto-extract</a:t>
            </a:r>
            <a:endParaRPr lang="en-US" sz="1133" dirty="0"/>
          </a:p>
        </p:txBody>
      </p:sp>
      <p:sp>
        <p:nvSpPr>
          <p:cNvPr id="37" name="Shape 35"/>
          <p:cNvSpPr/>
          <p:nvPr/>
        </p:nvSpPr>
        <p:spPr>
          <a:xfrm>
            <a:off x="7315200" y="3706368"/>
            <a:ext cx="2170176" cy="792480"/>
          </a:xfrm>
          <a:prstGeom prst="rect">
            <a:avLst/>
          </a:prstGeom>
          <a:solidFill>
            <a:srgbClr val="FFF8EC"/>
          </a:solidFill>
          <a:ln w="63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38" name="Text 36"/>
          <p:cNvSpPr/>
          <p:nvPr/>
        </p:nvSpPr>
        <p:spPr>
          <a:xfrm>
            <a:off x="7388352" y="3767328"/>
            <a:ext cx="20238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333" dirty="0"/>
          </a:p>
        </p:txBody>
      </p:sp>
      <p:sp>
        <p:nvSpPr>
          <p:cNvPr id="39" name="Text 37"/>
          <p:cNvSpPr/>
          <p:nvPr/>
        </p:nvSpPr>
        <p:spPr>
          <a:xfrm>
            <a:off x="7388352" y="4072128"/>
            <a:ext cx="2023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1133" dirty="0"/>
          </a:p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</a:t>
            </a:r>
            <a:endParaRPr lang="en-US" sz="1133" dirty="0"/>
          </a:p>
        </p:txBody>
      </p:sp>
      <p:sp>
        <p:nvSpPr>
          <p:cNvPr id="40" name="Shape 38"/>
          <p:cNvSpPr/>
          <p:nvPr/>
        </p:nvSpPr>
        <p:spPr>
          <a:xfrm>
            <a:off x="9631680" y="3706368"/>
            <a:ext cx="2170176" cy="792480"/>
          </a:xfrm>
          <a:prstGeom prst="rect">
            <a:avLst/>
          </a:prstGeom>
          <a:solidFill>
            <a:srgbClr val="FFF8EC"/>
          </a:solidFill>
          <a:ln w="63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41" name="Text 39"/>
          <p:cNvSpPr/>
          <p:nvPr/>
        </p:nvSpPr>
        <p:spPr>
          <a:xfrm>
            <a:off x="9704832" y="3767328"/>
            <a:ext cx="20238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333" dirty="0"/>
          </a:p>
        </p:txBody>
      </p:sp>
      <p:sp>
        <p:nvSpPr>
          <p:cNvPr id="42" name="Text 40"/>
          <p:cNvSpPr/>
          <p:nvPr/>
        </p:nvSpPr>
        <p:spPr>
          <a:xfrm>
            <a:off x="9704832" y="4072128"/>
            <a:ext cx="2023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</a:t>
            </a:r>
            <a:endParaRPr lang="en-US" sz="1133" dirty="0"/>
          </a:p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timeline</a:t>
            </a:r>
            <a:endParaRPr lang="en-US" sz="1133" dirty="0"/>
          </a:p>
        </p:txBody>
      </p:sp>
      <p:sp>
        <p:nvSpPr>
          <p:cNvPr id="43" name="Shape 41"/>
          <p:cNvSpPr/>
          <p:nvPr/>
        </p:nvSpPr>
        <p:spPr>
          <a:xfrm>
            <a:off x="7315200" y="4645152"/>
            <a:ext cx="2170176" cy="792480"/>
          </a:xfrm>
          <a:prstGeom prst="rect">
            <a:avLst/>
          </a:prstGeom>
          <a:solidFill>
            <a:srgbClr val="FFF8EC"/>
          </a:solidFill>
          <a:ln w="63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44" name="Text 42"/>
          <p:cNvSpPr/>
          <p:nvPr/>
        </p:nvSpPr>
        <p:spPr>
          <a:xfrm>
            <a:off x="7388352" y="4706112"/>
            <a:ext cx="20238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</a:t>
            </a:r>
            <a:endParaRPr lang="en-US" sz="1333" dirty="0"/>
          </a:p>
        </p:txBody>
      </p:sp>
      <p:sp>
        <p:nvSpPr>
          <p:cNvPr id="45" name="Text 43"/>
          <p:cNvSpPr/>
          <p:nvPr/>
        </p:nvSpPr>
        <p:spPr>
          <a:xfrm>
            <a:off x="7388352" y="5010912"/>
            <a:ext cx="2023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login</a:t>
            </a:r>
            <a:endParaRPr lang="en-US" sz="1133" dirty="0"/>
          </a:p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passwords</a:t>
            </a:r>
            <a:endParaRPr lang="en-US" sz="1133" dirty="0"/>
          </a:p>
        </p:txBody>
      </p:sp>
      <p:sp>
        <p:nvSpPr>
          <p:cNvPr id="46" name="Shape 44"/>
          <p:cNvSpPr/>
          <p:nvPr/>
        </p:nvSpPr>
        <p:spPr>
          <a:xfrm>
            <a:off x="9631680" y="4645152"/>
            <a:ext cx="2170176" cy="792480"/>
          </a:xfrm>
          <a:prstGeom prst="rect">
            <a:avLst/>
          </a:prstGeom>
          <a:solidFill>
            <a:srgbClr val="FFF8EC"/>
          </a:solidFill>
          <a:ln w="63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47" name="Text 45"/>
          <p:cNvSpPr/>
          <p:nvPr/>
        </p:nvSpPr>
        <p:spPr>
          <a:xfrm>
            <a:off x="9704832" y="4706112"/>
            <a:ext cx="20238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333" dirty="0"/>
          </a:p>
        </p:txBody>
      </p:sp>
      <p:sp>
        <p:nvSpPr>
          <p:cNvPr id="48" name="Text 46"/>
          <p:cNvSpPr/>
          <p:nvPr/>
        </p:nvSpPr>
        <p:spPr>
          <a:xfrm>
            <a:off x="9704832" y="5010912"/>
            <a:ext cx="2023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triggers</a:t>
            </a:r>
            <a:endParaRPr lang="en-US" sz="1133" dirty="0"/>
          </a:p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Followup jobs</a:t>
            </a:r>
            <a:endParaRPr lang="en-US" sz="1133" dirty="0"/>
          </a:p>
        </p:txBody>
      </p:sp>
      <p:sp>
        <p:nvSpPr>
          <p:cNvPr id="49" name="Shape 47"/>
          <p:cNvSpPr/>
          <p:nvPr/>
        </p:nvSpPr>
        <p:spPr>
          <a:xfrm>
            <a:off x="7315200" y="5583936"/>
            <a:ext cx="2170176" cy="792480"/>
          </a:xfrm>
          <a:prstGeom prst="rect">
            <a:avLst/>
          </a:prstGeom>
          <a:solidFill>
            <a:srgbClr val="FFF8EC"/>
          </a:solidFill>
          <a:ln w="63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50" name="Text 48"/>
          <p:cNvSpPr/>
          <p:nvPr/>
        </p:nvSpPr>
        <p:spPr>
          <a:xfrm>
            <a:off x="7388352" y="5644896"/>
            <a:ext cx="20238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1333" dirty="0"/>
          </a:p>
        </p:txBody>
      </p:sp>
      <p:sp>
        <p:nvSpPr>
          <p:cNvPr id="51" name="Text 49"/>
          <p:cNvSpPr/>
          <p:nvPr/>
        </p:nvSpPr>
        <p:spPr>
          <a:xfrm>
            <a:off x="7388352" y="5949696"/>
            <a:ext cx="2023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· Push</a:t>
            </a:r>
            <a:endParaRPr lang="en-US" sz="1133" dirty="0"/>
          </a:p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133" dirty="0"/>
          </a:p>
        </p:txBody>
      </p:sp>
      <p:sp>
        <p:nvSpPr>
          <p:cNvPr id="52" name="Shape 50"/>
          <p:cNvSpPr/>
          <p:nvPr/>
        </p:nvSpPr>
        <p:spPr>
          <a:xfrm>
            <a:off x="9631680" y="5583936"/>
            <a:ext cx="2170176" cy="792480"/>
          </a:xfrm>
          <a:prstGeom prst="rect">
            <a:avLst/>
          </a:prstGeom>
          <a:solidFill>
            <a:srgbClr val="FFF8EC"/>
          </a:solidFill>
          <a:ln w="63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53" name="Text 51"/>
          <p:cNvSpPr/>
          <p:nvPr/>
        </p:nvSpPr>
        <p:spPr>
          <a:xfrm>
            <a:off x="9704832" y="5644896"/>
            <a:ext cx="20238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KMS</a:t>
            </a:r>
            <a:endParaRPr lang="en-US" sz="1333" dirty="0"/>
          </a:p>
        </p:txBody>
      </p:sp>
      <p:sp>
        <p:nvSpPr>
          <p:cNvPr id="54" name="Text 52"/>
          <p:cNvSpPr/>
          <p:nvPr/>
        </p:nvSpPr>
        <p:spPr>
          <a:xfrm>
            <a:off x="9704832" y="5949696"/>
            <a:ext cx="2023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</a:t>
            </a:r>
            <a:endParaRPr lang="en-US" sz="1133" dirty="0"/>
          </a:p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storage</a:t>
            </a:r>
            <a:endParaRPr lang="en-US" sz="1133" dirty="0"/>
          </a:p>
        </p:txBody>
      </p:sp>
      <p:sp>
        <p:nvSpPr>
          <p:cNvPr id="56" name="Text 54"/>
          <p:cNvSpPr/>
          <p:nvPr/>
        </p:nvSpPr>
        <p:spPr>
          <a:xfrm>
            <a:off x="365760" y="6242304"/>
            <a:ext cx="11460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1E35-8838-5ED2-C5B6-BF0A77C9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DC7086-439C-EB5A-C32E-4C92E219C031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5D635-C241-439F-EEBB-4A22AD40D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2A3B8E-042C-A09E-7539-8ACE13E39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A02EDDE-EE21-402C-78DC-8B80CA95E61F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400" kern="0" dirty="0">
                <a:solidFill>
                  <a:schemeClr val="bg1"/>
                </a:solidFill>
                <a:ea typeface="Segoe UI" panose="020B0502040204020203" pitchFamily="34" charset="0"/>
              </a:rPr>
              <a:t>Technical Design and architecture</a:t>
            </a:r>
          </a:p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939F33-AEB3-9831-E36A-CF4583BA7FC1}"/>
              </a:ext>
            </a:extLst>
          </p:cNvPr>
          <p:cNvSpPr txBox="1"/>
          <p:nvPr/>
        </p:nvSpPr>
        <p:spPr>
          <a:xfrm>
            <a:off x="3910009" y="6528876"/>
            <a:ext cx="4206240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** Use additional slides to include other relevant details, as required.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334A70-DDF9-CFF2-F8FA-4E342559EB10}"/>
              </a:ext>
            </a:extLst>
          </p:cNvPr>
          <p:cNvSpPr txBox="1"/>
          <p:nvPr/>
        </p:nvSpPr>
        <p:spPr>
          <a:xfrm>
            <a:off x="516815" y="1350496"/>
            <a:ext cx="11200264" cy="448256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467C894-31FD-77B9-DD8C-EDB961BCFBDC}"/>
              </a:ext>
            </a:extLst>
          </p:cNvPr>
          <p:cNvSpPr/>
          <p:nvPr/>
        </p:nvSpPr>
        <p:spPr>
          <a:xfrm>
            <a:off x="516814" y="1044265"/>
            <a:ext cx="5426785" cy="30623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Technical Design and architecture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FBDCFF8-2299-B706-DDC4-1A60B6E6ED90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388" y="1446273"/>
            <a:ext cx="3530253" cy="42910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BE42E39-3838-0A05-DB43-AE390767E5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947" y="1446273"/>
            <a:ext cx="3794904" cy="436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997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06B2-2B56-208C-1D8D-A2504C8A9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FEBD7C2-ABAF-7D0F-B3A2-993B35CBBCB8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59DA6-B2BF-8792-AD1F-23DAFC891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Cognizant 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31B0EF-F52D-5F0F-23C8-716084726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B8E245-4828-3B89-44E7-B5C08C114BE2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&lt;&lt;Idea Title&gt;&gt;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5A27B2-E9FC-31F0-BBA2-0630D60A0053}"/>
              </a:ext>
            </a:extLst>
          </p:cNvPr>
          <p:cNvSpPr txBox="1"/>
          <p:nvPr/>
        </p:nvSpPr>
        <p:spPr>
          <a:xfrm>
            <a:off x="51681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2794A1-4959-3DC1-D2F8-05442DC7955A}"/>
              </a:ext>
            </a:extLst>
          </p:cNvPr>
          <p:cNvSpPr txBox="1"/>
          <p:nvPr/>
        </p:nvSpPr>
        <p:spPr>
          <a:xfrm>
            <a:off x="618878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algn="just"/>
            <a:r>
              <a:rPr lang="en-IN" b="1" dirty="0"/>
              <a:t>Phase 1 (Current MVP — Hackathon):</a:t>
            </a:r>
            <a:endParaRPr lang="en-IN" dirty="0"/>
          </a:p>
          <a:p>
            <a:pPr algn="just"/>
            <a:r>
              <a:rPr lang="en-IN" dirty="0"/>
              <a:t>✅ AI skin triage (photo + text + voice)</a:t>
            </a:r>
          </a:p>
          <a:p>
            <a:pPr algn="just"/>
            <a:r>
              <a:rPr lang="en-IN" dirty="0"/>
              <a:t>✅ Multilingual support (EN/HI/TA)</a:t>
            </a:r>
          </a:p>
          <a:p>
            <a:pPr algn="just"/>
            <a:r>
              <a:rPr lang="en-IN" dirty="0"/>
              <a:t>✅ Appointment booking</a:t>
            </a:r>
          </a:p>
          <a:p>
            <a:pPr algn="just"/>
            <a:r>
              <a:rPr lang="en-IN" dirty="0"/>
              <a:t>✅ QR destroy-on-scan</a:t>
            </a:r>
          </a:p>
          <a:p>
            <a:pPr algn="just"/>
            <a:r>
              <a:rPr lang="en-IN" dirty="0"/>
              <a:t>✅ Daily monitoring with escalation</a:t>
            </a:r>
          </a:p>
          <a:p>
            <a:pPr algn="just"/>
            <a:r>
              <a:rPr lang="en-IN" dirty="0"/>
              <a:t>✅ Doctor portal</a:t>
            </a:r>
          </a:p>
          <a:p>
            <a:pPr algn="just"/>
            <a:r>
              <a:rPr lang="en-IN" b="1" dirty="0"/>
              <a:t>Phase 2 (3 months):</a:t>
            </a:r>
            <a:endParaRPr lang="en-IN" dirty="0"/>
          </a:p>
          <a:p>
            <a:pPr algn="just"/>
            <a:r>
              <a:rPr lang="en-IN" dirty="0"/>
              <a:t>Mobile app (React Native) for Android/iOS</a:t>
            </a:r>
          </a:p>
          <a:p>
            <a:pPr algn="just"/>
            <a:r>
              <a:rPr lang="en-IN" dirty="0"/>
              <a:t>WhatsApp bot integration for rural patients</a:t>
            </a:r>
          </a:p>
          <a:p>
            <a:pPr algn="just"/>
            <a:r>
              <a:rPr lang="en-IN" dirty="0"/>
              <a:t>Integration with real hospital APIs (Apollo, </a:t>
            </a:r>
            <a:r>
              <a:rPr lang="en-IN" dirty="0" err="1"/>
              <a:t>Practo</a:t>
            </a:r>
            <a:r>
              <a:rPr lang="en-IN" dirty="0"/>
              <a:t>)</a:t>
            </a:r>
          </a:p>
          <a:p>
            <a:pPr algn="just"/>
            <a:r>
              <a:rPr lang="en-IN" dirty="0"/>
              <a:t>ABDM (Ayushman Bharat Digital Mission) health record linking</a:t>
            </a:r>
          </a:p>
          <a:p>
            <a:pPr algn="just"/>
            <a:r>
              <a:rPr lang="en-IN" b="1" dirty="0"/>
              <a:t>Phase 3 (6 months):</a:t>
            </a:r>
            <a:endParaRPr lang="en-IN" dirty="0"/>
          </a:p>
          <a:p>
            <a:pPr algn="just"/>
            <a:r>
              <a:rPr lang="en-IN" dirty="0"/>
              <a:t>Expand to 5 more skin diseases (eczema, psoriasis, fungal, vitiligo, urticaria)</a:t>
            </a:r>
          </a:p>
          <a:p>
            <a:pPr algn="just"/>
            <a:r>
              <a:rPr lang="en-IN" dirty="0"/>
              <a:t>AI-powered treatment outcome prediction</a:t>
            </a:r>
          </a:p>
          <a:p>
            <a:pPr algn="just"/>
            <a:r>
              <a:rPr lang="en-IN" dirty="0"/>
              <a:t>Telemedicine video consultation integration</a:t>
            </a:r>
          </a:p>
          <a:p>
            <a:pPr algn="just"/>
            <a:r>
              <a:rPr lang="en-IN" dirty="0"/>
              <a:t>Regional language expansion (multilingual)</a:t>
            </a:r>
          </a:p>
          <a:p>
            <a:pPr algn="just"/>
            <a:r>
              <a:rPr lang="en-IN" b="1" dirty="0"/>
              <a:t>Phase 4 (12 months):</a:t>
            </a:r>
            <a:endParaRPr lang="en-IN" dirty="0"/>
          </a:p>
          <a:p>
            <a:pPr algn="just"/>
            <a:r>
              <a:rPr lang="en-IN" dirty="0"/>
              <a:t>B2B SaaS for hospital chains</a:t>
            </a:r>
          </a:p>
          <a:p>
            <a:pPr algn="just"/>
            <a:r>
              <a:rPr lang="en-IN" dirty="0"/>
              <a:t>Insurance pre-authorization integration</a:t>
            </a:r>
          </a:p>
          <a:p>
            <a:pPr algn="just"/>
            <a:r>
              <a:rPr lang="en-IN" dirty="0"/>
              <a:t>Clinical trial patient matching</a:t>
            </a:r>
          </a:p>
          <a:p>
            <a:pPr algn="just"/>
            <a:r>
              <a:rPr lang="en-IN" dirty="0"/>
              <a:t>Government PHC deployment (Ayushman Bharat)</a:t>
            </a:r>
          </a:p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714BA1E-65C7-7C9C-3F08-0D0484356266}"/>
              </a:ext>
            </a:extLst>
          </p:cNvPr>
          <p:cNvSpPr/>
          <p:nvPr/>
        </p:nvSpPr>
        <p:spPr>
          <a:xfrm>
            <a:off x="516815" y="1044264"/>
            <a:ext cx="4799464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Scalable / Reusable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36AB9FD5-0256-0FA8-A120-BB544705251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39373"/>
            <a:ext cx="5369968" cy="4374363"/>
          </a:xfrm>
        </p:spPr>
        <p:txBody>
          <a:bodyPr/>
          <a:lstStyle/>
          <a:p>
            <a:pPr algn="just"/>
            <a:r>
              <a:rPr lang="en-US" sz="1200" b="1" dirty="0"/>
              <a:t>Real-World Deployment Scope:</a:t>
            </a:r>
            <a:endParaRPr lang="en-US" sz="1200" dirty="0"/>
          </a:p>
          <a:p>
            <a:pPr algn="just"/>
            <a:r>
              <a:rPr lang="en-US" sz="1200" dirty="0"/>
              <a:t>Fully serverless — scales from 1 to 10 million patients without infrastructure changes</a:t>
            </a:r>
          </a:p>
          <a:p>
            <a:pPr algn="just"/>
            <a:r>
              <a:rPr lang="en-US" sz="1200" dirty="0"/>
              <a:t>DynamoDB on-demand billing: pay only for actual usage (₹0 when idle)</a:t>
            </a:r>
          </a:p>
          <a:p>
            <a:pPr algn="just"/>
            <a:r>
              <a:rPr lang="en-US" sz="1200" dirty="0"/>
              <a:t>Lambda auto-scales to handle traffic spikes (e.g., monsoon season skin issues)</a:t>
            </a:r>
          </a:p>
          <a:p>
            <a:pPr algn="just"/>
            <a:r>
              <a:rPr lang="en-US" sz="1200" dirty="0"/>
              <a:t>Multi-region deployment possible with single config change</a:t>
            </a:r>
          </a:p>
          <a:p>
            <a:pPr algn="just"/>
            <a:r>
              <a:rPr lang="en-US" sz="1200" b="1" dirty="0"/>
              <a:t>Ease of Configuration for Other Businesses:</a:t>
            </a:r>
            <a:endParaRPr lang="en-US" sz="1200" dirty="0"/>
          </a:p>
          <a:p>
            <a:pPr algn="just"/>
            <a:r>
              <a:rPr lang="en-US" sz="1200" b="1" dirty="0"/>
              <a:t>Other skin diseases:</a:t>
            </a:r>
            <a:r>
              <a:rPr lang="en-US" sz="1200" dirty="0"/>
              <a:t> Change Bedrock prompts to cover psoriasis, eczema, fungal infections — no code changes needed</a:t>
            </a:r>
          </a:p>
          <a:p>
            <a:pPr algn="just"/>
            <a:r>
              <a:rPr lang="en-US" sz="1200" b="1" dirty="0"/>
              <a:t>Other medical specialties:</a:t>
            </a:r>
            <a:r>
              <a:rPr lang="en-US" sz="1200" dirty="0"/>
              <a:t> Replace "Dermatologist" with "Ophthalmologist" or "ENT" — same architecture works</a:t>
            </a:r>
          </a:p>
          <a:p>
            <a:pPr algn="just"/>
            <a:r>
              <a:rPr lang="en-US" sz="1200" b="1" dirty="0"/>
              <a:t>Hospital chains:</a:t>
            </a:r>
            <a:r>
              <a:rPr lang="en-US" sz="1200" dirty="0"/>
              <a:t> White-label the doctor portal for Apollo, Fortis, or government PHCs</a:t>
            </a:r>
          </a:p>
          <a:p>
            <a:pPr algn="just"/>
            <a:r>
              <a:rPr lang="en-US" sz="1200" b="1" dirty="0"/>
              <a:t>Insurance companies:</a:t>
            </a:r>
            <a:r>
              <a:rPr lang="en-US" sz="1200" dirty="0"/>
              <a:t> Integrate triage data for claim pre-authorization</a:t>
            </a:r>
          </a:p>
          <a:p>
            <a:pPr algn="just"/>
            <a:r>
              <a:rPr lang="en-US" sz="1200" b="1" dirty="0"/>
              <a:t>Pharma companies:</a:t>
            </a:r>
            <a:r>
              <a:rPr lang="en-US" sz="1200" dirty="0"/>
              <a:t> Medicine compliance tracking data for clinical trials</a:t>
            </a:r>
          </a:p>
          <a:p>
            <a:pPr algn="just"/>
            <a:endParaRPr lang="en-US" sz="1200" dirty="0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5CF91496-85DD-D02F-082E-D49F7DFA647E}"/>
              </a:ext>
            </a:extLst>
          </p:cNvPr>
          <p:cNvSpPr/>
          <p:nvPr/>
        </p:nvSpPr>
        <p:spPr>
          <a:xfrm>
            <a:off x="6188785" y="1024939"/>
            <a:ext cx="4156694" cy="34488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Roadmap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A7FA394-9C18-5BA5-A7E4-5BC0E1FA68C8}"/>
              </a:ext>
            </a:extLst>
          </p:cNvPr>
          <p:cNvSpPr txBox="1">
            <a:spLocks/>
          </p:cNvSpPr>
          <p:nvPr/>
        </p:nvSpPr>
        <p:spPr>
          <a:xfrm>
            <a:off x="6235831" y="1439373"/>
            <a:ext cx="5439354" cy="43936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>
              <a:spcBef>
                <a:spcPts val="0"/>
              </a:spcBef>
              <a:defRPr/>
            </a:pPr>
            <a:endParaRPr lang="en-US" sz="1400" dirty="0">
              <a:solidFill>
                <a:srgbClr val="0000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285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F96AF-1BDE-CA50-83C7-1B179E095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247" y="985234"/>
            <a:ext cx="6053327" cy="738664"/>
          </a:xfrm>
        </p:spPr>
        <p:txBody>
          <a:bodyPr/>
          <a:lstStyle/>
          <a:p>
            <a:r>
              <a:rPr lang="en-IN" sz="2400" dirty="0"/>
              <a:t> Our </a:t>
            </a:r>
            <a:r>
              <a:rPr lang="en-IN" sz="2400" dirty="0" err="1"/>
              <a:t>Technoverse</a:t>
            </a:r>
            <a:r>
              <a:rPr lang="en-IN" sz="2400" dirty="0"/>
              <a:t> Journey</a:t>
            </a:r>
            <a:br>
              <a:rPr lang="en-IN" sz="2400" dirty="0"/>
            </a:br>
            <a:endParaRPr lang="en-US" sz="2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E02A26-20BE-A868-1EF4-0D5B5AD7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6582B-619F-8A2F-6721-73ADF246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BFA9A4-82DF-CA0C-6363-02CC5EABC328}"/>
              </a:ext>
            </a:extLst>
          </p:cNvPr>
          <p:cNvSpPr txBox="1">
            <a:spLocks/>
          </p:cNvSpPr>
          <p:nvPr/>
        </p:nvSpPr>
        <p:spPr>
          <a:xfrm>
            <a:off x="1099590" y="2795736"/>
            <a:ext cx="6053327" cy="369332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1200" dirty="0"/>
            </a:b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6FCF8B-952C-E2ED-6967-381A96B737D7}"/>
              </a:ext>
            </a:extLst>
          </p:cNvPr>
          <p:cNvSpPr txBox="1"/>
          <p:nvPr/>
        </p:nvSpPr>
        <p:spPr>
          <a:xfrm>
            <a:off x="1042416" y="1488896"/>
            <a:ext cx="9283446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None/>
            </a:pPr>
            <a:r>
              <a:rPr lang="en-US" sz="1600" b="0" i="0" dirty="0">
                <a:effectLst/>
                <a:latin typeface="-apple-system"/>
              </a:rPr>
              <a:t>Our team INSPIRA from KIT started with a simple observation: our college friends from rural Tamil Nadu would delay skin treatment for weeks because the nearest dermatologist was 50km away. We asked — what if AI could provide immediate guidance in Tamil?</a:t>
            </a:r>
          </a:p>
          <a:p>
            <a:pPr algn="just">
              <a:spcAft>
                <a:spcPts val="1200"/>
              </a:spcAft>
              <a:buNone/>
            </a:pPr>
            <a:r>
              <a:rPr lang="en-US" sz="1600" b="0" i="0" dirty="0">
                <a:effectLst/>
                <a:latin typeface="-apple-system"/>
              </a:rPr>
              <a:t>We built </a:t>
            </a:r>
            <a:r>
              <a:rPr lang="en-US" sz="1600" b="0" i="0" dirty="0" err="1">
                <a:effectLst/>
                <a:latin typeface="-apple-system"/>
              </a:rPr>
              <a:t>MediBot</a:t>
            </a:r>
            <a:r>
              <a:rPr lang="en-US" sz="1600" b="0" i="0" dirty="0">
                <a:effectLst/>
                <a:latin typeface="-apple-system"/>
              </a:rPr>
              <a:t> in 18 hours using Amazon Kiro as our AI development partner. Kiro's spec-driven workflow helped us design the architecture before writing code, and its steering rules ensured consistent quality across 16 Lambda functions.</a:t>
            </a:r>
          </a:p>
          <a:p>
            <a:pPr algn="just">
              <a:spcAft>
                <a:spcPts val="1200"/>
              </a:spcAft>
              <a:buNone/>
            </a:pPr>
            <a:r>
              <a:rPr lang="en-US" sz="1600" b="0" i="0" dirty="0">
                <a:effectLst/>
                <a:latin typeface="-apple-system"/>
              </a:rPr>
              <a:t>The "aha moment" was when we tested the Hindi symptom input — Claude generated culturally relevant advice like "neem paste application" alongside modern medical guidance. That's when we knew this could genuinely help millions.</a:t>
            </a:r>
          </a:p>
          <a:p>
            <a:pPr algn="just">
              <a:spcAft>
                <a:spcPts val="1200"/>
              </a:spcAft>
              <a:buNone/>
            </a:pPr>
            <a:r>
              <a:rPr lang="en-US" sz="1600" b="1" i="0" dirty="0">
                <a:effectLst/>
                <a:latin typeface="-apple-system"/>
              </a:rPr>
              <a:t>Key stats from our build:</a:t>
            </a:r>
            <a:endParaRPr lang="en-US" sz="1600" b="0" i="0" dirty="0">
              <a:effectLst/>
              <a:latin typeface="-apple-system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-apple-system"/>
              </a:rPr>
              <a:t>16 Lambda functions deployed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-apple-system"/>
              </a:rPr>
              <a:t>7 DynamoDB tables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-apple-system"/>
              </a:rPr>
              <a:t>16 API endpoints live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-apple-system"/>
              </a:rPr>
              <a:t>3 languages supported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-apple-system"/>
              </a:rPr>
              <a:t>Real AI-powered triage working end-to-end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-apple-system"/>
              </a:rPr>
              <a:t>Built entirely with Amazon Kiro + AWS services</a:t>
            </a:r>
          </a:p>
        </p:txBody>
      </p:sp>
    </p:spTree>
    <p:extLst>
      <p:ext uri="{BB962C8B-B14F-4D97-AF65-F5344CB8AC3E}">
        <p14:creationId xmlns:p14="http://schemas.microsoft.com/office/powerpoint/2010/main" val="1692409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9312-CD68-5C9C-0566-BC59C608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F6DC-034A-386C-85C3-E9BFF7BE1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1503561"/>
            <a:ext cx="10799065" cy="2646878"/>
          </a:xfrm>
        </p:spPr>
        <p:txBody>
          <a:bodyPr/>
          <a:lstStyle/>
          <a:p>
            <a:r>
              <a:rPr lang="en-IN"/>
              <a:t>               Thank You</a:t>
            </a:r>
            <a:br>
              <a:rPr lang="en-IN"/>
            </a:br>
            <a:br>
              <a:rPr lang="en-IN" sz="2800"/>
            </a:br>
            <a:r>
              <a:rPr lang="en-IN" sz="2800"/>
              <a:t>Team </a:t>
            </a:r>
            <a:r>
              <a:rPr lang="en-IN" sz="2800" dirty="0"/>
              <a:t>INSPIRA</a:t>
            </a:r>
            <a:r>
              <a:rPr lang="en-IN" sz="2800" b="0" dirty="0"/>
              <a:t> KIT - </a:t>
            </a:r>
            <a:r>
              <a:rPr lang="en-IN" sz="2800" b="0" dirty="0" err="1"/>
              <a:t>Kalaingnar</a:t>
            </a:r>
            <a:r>
              <a:rPr lang="en-IN" sz="2800" b="0" dirty="0"/>
              <a:t> Karunanidhi Institute of Technology</a:t>
            </a:r>
            <a:br>
              <a:rPr lang="en-IN" sz="2800" b="0" dirty="0"/>
            </a:br>
            <a:r>
              <a:rPr lang="en-IN" sz="2800" b="0" dirty="0" err="1"/>
              <a:t>Rajaganapathi</a:t>
            </a:r>
            <a:r>
              <a:rPr lang="en-IN" sz="2800" b="0" dirty="0"/>
              <a:t> M | Divyasri M | Pradeep SA | Nivethika P</a:t>
            </a:r>
            <a:br>
              <a:rPr lang="en-IN" sz="2800" b="0" dirty="0"/>
            </a:br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572D9-700A-7FEC-1F56-7C7C66759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B3EE0-4971-0D8C-F534-22A0ECF9B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900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ognizant Colors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48"/>
      </a:accent6>
      <a:hlink>
        <a:srgbClr val="91B9E5"/>
      </a:hlink>
      <a:folHlink>
        <a:srgbClr val="2F78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55602_MKTG_GBC_PPT-Main Template_062923_Final" id="{2379A8A4-C99D-DF46-9C1A-97F0019C8E83}" vid="{405A1980-278A-4F4F-ADCD-F119F604A48F}"/>
    </a:ext>
  </a:extLst>
</a:theme>
</file>

<file path=ppt/theme/theme2.xml><?xml version="1.0" encoding="utf-8"?>
<a:theme xmlns:a="http://schemas.openxmlformats.org/drawingml/2006/main" name="2_Office Theme">
  <a:themeElements>
    <a:clrScheme name="Cognizant Colors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48"/>
      </a:accent6>
      <a:hlink>
        <a:srgbClr val="91B9E5"/>
      </a:hlink>
      <a:folHlink>
        <a:srgbClr val="2F78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55602_MKTG_GBC_PPT-Main Template_062923_Final" id="{2379A8A4-C99D-DF46-9C1A-97F0019C8E83}" vid="{405A1980-278A-4F4F-ADCD-F119F604A48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E60DD53B08764D9FBA21DBED3214CC" ma:contentTypeVersion="22" ma:contentTypeDescription="Create a new document." ma:contentTypeScope="" ma:versionID="3dd4086fc227d84930da0763be3e0042">
  <xsd:schema xmlns:xsd="http://www.w3.org/2001/XMLSchema" xmlns:xs="http://www.w3.org/2001/XMLSchema" xmlns:p="http://schemas.microsoft.com/office/2006/metadata/properties" xmlns:ns2="0a84972d-ef8c-45a9-9686-55cfd8231be0" xmlns:ns3="1eec79b3-321e-4dfa-8d23-6bc73fc62350" xmlns:ns4="3c35e321-f73a-4dae-ae38-a0459de24735" targetNamespace="http://schemas.microsoft.com/office/2006/metadata/properties" ma:root="true" ma:fieldsID="d8be992cee903fad960eda9f235136ae" ns2:_="" ns3:_="" ns4:_="">
    <xsd:import namespace="0a84972d-ef8c-45a9-9686-55cfd8231be0"/>
    <xsd:import namespace="1eec79b3-321e-4dfa-8d23-6bc73fc62350"/>
    <xsd:import namespace="3c35e321-f73a-4dae-ae38-a0459de247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  <xsd:element ref="ns2:Source" minOccurs="0"/>
                <xsd:element ref="ns2:MediaServiceBillingMetadata" minOccurs="0"/>
                <xsd:element ref="ns2:MM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84972d-ef8c-45a9-9686-55cfd8231b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3b7d1d5-7262-4eb7-85df-493a730aa6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ource" ma:index="27" nillable="true" ma:displayName="Source" ma:format="Dropdown" ma:internalName="Source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M" ma:index="29" nillable="true" ma:displayName="MM" ma:format="DateOnly" ma:internalName="MM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ec79b3-321e-4dfa-8d23-6bc73fc6235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35e321-f73a-4dae-ae38-a0459de24735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4a3e1da5-f246-4675-b38f-a7f514a07e2f}" ma:internalName="TaxCatchAll" ma:showField="CatchAllData" ma:web="1eec79b3-321e-4dfa-8d23-6bc73fc623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ource xmlns="0a84972d-ef8c-45a9-9686-55cfd8231be0" xsi:nil="true"/>
    <MM xmlns="0a84972d-ef8c-45a9-9686-55cfd8231be0" xsi:nil="true"/>
    <_Flow_SignoffStatus xmlns="0a84972d-ef8c-45a9-9686-55cfd8231be0" xsi:nil="true"/>
    <lcf76f155ced4ddcb4097134ff3c332f xmlns="0a84972d-ef8c-45a9-9686-55cfd8231be0">
      <Terms xmlns="http://schemas.microsoft.com/office/infopath/2007/PartnerControls"/>
    </lcf76f155ced4ddcb4097134ff3c332f>
    <TaxCatchAll xmlns="3c35e321-f73a-4dae-ae38-a0459de2473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24D5D3-2BE3-4278-95F2-2A2616C3DA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84972d-ef8c-45a9-9686-55cfd8231be0"/>
    <ds:schemaRef ds:uri="1eec79b3-321e-4dfa-8d23-6bc73fc62350"/>
    <ds:schemaRef ds:uri="3c35e321-f73a-4dae-ae38-a0459de247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11035EC-6D18-44A4-BB42-C9DEBF2D5983}">
  <ds:schemaRefs>
    <ds:schemaRef ds:uri="http://schemas.microsoft.com/office/2006/metadata/properties"/>
    <ds:schemaRef ds:uri="http://purl.org/dc/dcmitype/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documentManagement/types"/>
    <ds:schemaRef ds:uri="13f2c8c6-9aca-4830-85ce-a55535ee011e"/>
    <ds:schemaRef ds:uri="http://purl.org/dc/terms/"/>
    <ds:schemaRef ds:uri="http://schemas.openxmlformats.org/package/2006/metadata/core-properties"/>
    <ds:schemaRef ds:uri="0a84972d-ef8c-45a9-9686-55cfd8231be0"/>
    <ds:schemaRef ds:uri="3c35e321-f73a-4dae-ae38-a0459de24735"/>
  </ds:schemaRefs>
</ds:datastoreItem>
</file>

<file path=customXml/itemProps3.xml><?xml version="1.0" encoding="utf-8"?>
<ds:datastoreItem xmlns:ds="http://schemas.openxmlformats.org/officeDocument/2006/customXml" ds:itemID="{3E3E83F0-6E45-4BB2-99A3-73A594F63EE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e08c407-19b9-427d-9fe8-edf254300ca7}" enabled="0" method="" siteId="{de08c407-19b9-427d-9fe8-edf254300ca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6413</TotalTime>
  <Words>1377</Words>
  <Application>Microsoft Office PowerPoint</Application>
  <PresentationFormat>Widescreen</PresentationFormat>
  <Paragraphs>203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-apple-system</vt:lpstr>
      <vt:lpstr>Arial</vt:lpstr>
      <vt:lpstr>Calibri</vt:lpstr>
      <vt:lpstr>Cambria</vt:lpstr>
      <vt:lpstr>Segoe UI</vt:lpstr>
      <vt:lpstr>1_Office Theme</vt:lpstr>
      <vt:lpstr>2_Office Theme</vt:lpstr>
      <vt:lpstr>MVP Presentation INSPIRA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 Our Technoverse Journey </vt:lpstr>
      <vt:lpstr>               Thank You  Team INSPIRA KIT - Kalaingnar Karunanidhi Institute of Technology Rajaganapathi M | Divyasri M | Pradeep SA | Nivethika P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Bluebolt Excellence Awards 2025 FAQ Document</dc:title>
  <dc:subject/>
  <cp:keywords/>
  <dc:description/>
  <cp:lastModifiedBy>Raja Ganapathi M</cp:lastModifiedBy>
  <cp:revision>6</cp:revision>
  <dcterms:created xsi:type="dcterms:W3CDTF">2022-04-01T05:31:57Z</dcterms:created>
  <dcterms:modified xsi:type="dcterms:W3CDTF">2026-05-07T03:17:27Z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Rejected By">
    <vt:lpwstr/>
  </property>
  <property fmtid="{D5CDD505-2E9C-101B-9397-08002B2CF9AE}" pid="4" name="Will our competitors be interested in acquiring the information shared in this document?">
    <vt:lpwstr>Little or no chance</vt:lpwstr>
  </property>
  <property fmtid="{D5CDD505-2E9C-101B-9397-08002B2CF9AE}" pid="5" name="Criticality">
    <vt:lpwstr>C3</vt:lpwstr>
  </property>
  <property fmtid="{D5CDD505-2E9C-101B-9397-08002B2CF9AE}" pid="6" name="Last Updated By">
    <vt:lpwstr>717;#717</vt:lpwstr>
  </property>
  <property fmtid="{D5CDD505-2E9C-101B-9397-08002B2CF9AE}" pid="7" name="ContentTypeId">
    <vt:lpwstr>0x010100C0E60DD53B08764D9FBA21DBED3214CC</vt:lpwstr>
  </property>
  <property fmtid="{D5CDD505-2E9C-101B-9397-08002B2CF9AE}" pid="8" name="PreviousFeatured">
    <vt:lpwstr>Approved-False</vt:lpwstr>
  </property>
  <property fmtid="{D5CDD505-2E9C-101B-9397-08002B2CF9AE}" pid="9" name="Approved Date">
    <vt:filetime>2025-12-22T13:28:00Z</vt:filetime>
  </property>
  <property fmtid="{D5CDD505-2E9C-101B-9397-08002B2CF9AE}" pid="10" name="Approved By">
    <vt:lpwstr>717;#717</vt:lpwstr>
  </property>
</Properties>
</file>